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embeddedFontLst>
    <p:embeddedFont>
      <p:font typeface="Abadi" panose="020B0604020104020204" pitchFamily="34" charset="0"/>
      <p:regular r:id="rId16"/>
      <p:bold r:id="rId17"/>
    </p:embeddedFont>
    <p:embeddedFont>
      <p:font typeface="Inter" panose="020B0604020202020204" charset="0"/>
      <p:regular r:id="rId18"/>
    </p:embeddedFont>
    <p:embeddedFont>
      <p:font typeface="Open Sans" panose="020B0606030504020204" pitchFamily="34" charset="0"/>
      <p:regular r:id="rId19"/>
      <p:bold r:id="rId20"/>
    </p:embeddedFont>
    <p:embeddedFont>
      <p:font typeface="Roboto" panose="02000000000000000000" pitchFamily="2" charset="0"/>
      <p:regular r:id="rId21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54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2500" y="1066948"/>
            <a:ext cx="11239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Roboto"/>
              </a:rPr>
              <a:t>CS2202L SYSTEM DESIGN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1495573"/>
            <a:ext cx="9101137" cy="2011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Roboto"/>
              </a:rPr>
              <a:t>Design &amp; FPGA Implementation of a Pipelined RV32IMF Processor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735585"/>
            <a:ext cx="77152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 dirty="0">
                <a:solidFill>
                  <a:srgbClr val="94A3B8"/>
                </a:solidFill>
                <a:latin typeface="Open Sans"/>
              </a:rPr>
              <a:t>Extended 5-Stage Architecture with Hardware Accelerators, L1 Caches &amp; </a:t>
            </a:r>
            <a:r>
              <a:rPr lang="en-US" dirty="0">
                <a:solidFill>
                  <a:srgbClr val="94A3B8"/>
                </a:solidFill>
                <a:latin typeface="Open Sans"/>
              </a:rPr>
              <a:t>Static</a:t>
            </a:r>
            <a:r>
              <a:rPr sz="1800" b="0" i="0" u="none" dirty="0">
                <a:solidFill>
                  <a:srgbClr val="94A3B8"/>
                </a:solidFill>
                <a:latin typeface="Open Sans"/>
              </a:rPr>
              <a:t> Branch Prediction.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5047952"/>
            <a:ext cx="40323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Roboto"/>
              </a:rPr>
              <a:t>TARGET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5305127"/>
            <a:ext cx="403231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Open Sans"/>
              </a:rPr>
              <a:t>Xilinx Artix-7 XC7A100T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5562302"/>
            <a:ext cx="4032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Open Sans"/>
              </a:rPr>
              <a:t>Digilent Nexys A7-100T FPGA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87949" y="4985146"/>
            <a:ext cx="74040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Roboto"/>
              </a:rPr>
              <a:t>GROUP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7949" y="5242321"/>
            <a:ext cx="65468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Open Sans"/>
              </a:rPr>
              <a:t>Pisini Ramana  |  Chimbili Sahithi  |  Siddharth Misro</a:t>
            </a:r>
            <a:r>
              <a:t>
</a:t>
            </a:r>
            <a:r>
              <a:rPr sz="1350" b="0" i="0" u="none">
                <a:solidFill>
                  <a:srgbClr val="F8FAFC"/>
                </a:solidFill>
                <a:latin typeface="Open Sans"/>
              </a:rPr>
              <a:t> Bandaru Rohith Datta  |  Sigilipelli Praneeth Sai Bharath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647950"/>
            <a:ext cx="457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3181350"/>
            <a:ext cx="2286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90525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4629150"/>
            <a:ext cx="25717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2470548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Abadi" panose="020F0502020204030204" pitchFamily="34" charset="0"/>
              </a:rP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914650"/>
            <a:ext cx="1420197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0F172A"/>
                </a:solidFill>
                <a:latin typeface="Abadi" panose="020F0502020204030204" pitchFamily="34" charset="0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409950"/>
            <a:ext cx="51149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Baseline unaccelerated RISC-V cores suffer severe IPC degradation.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2657475"/>
            <a:ext cx="2262864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0F172A"/>
                </a:solidFill>
                <a:latin typeface="Abadi" panose="020F0502020204030204" pitchFamily="34" charset="0"/>
              </a:rPr>
              <a:t>The System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4191000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191000"/>
            <a:ext cx="5988843" cy="3048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Software math emulation:</a:t>
            </a:r>
            <a:r>
              <a:rPr sz="1500" b="0" i="0" u="none">
                <a:solidFill>
                  <a:srgbClr val="64748B"/>
                </a:solidFill>
                <a:latin typeface="Inter"/>
              </a:rPr>
              <a:t> High cycle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" y="4495800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495800"/>
            <a:ext cx="5988843" cy="3048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Pipeline stalls:</a:t>
            </a:r>
            <a:r>
              <a:rPr sz="1500" b="0" i="0" u="none">
                <a:solidFill>
                  <a:srgbClr val="64748B"/>
                </a:solidFill>
                <a:latin typeface="Inter"/>
              </a:rPr>
              <a:t> Unresolved hazards.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4800600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800600"/>
            <a:ext cx="5988843" cy="3048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Memory latencies:</a:t>
            </a:r>
            <a:r>
              <a:rPr sz="1500" b="0" i="0" u="none">
                <a:solidFill>
                  <a:srgbClr val="64748B"/>
                </a:solidFill>
                <a:latin typeface="Inter"/>
              </a:rPr>
              <a:t> Unbuffered access delays.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3725" y="3152775"/>
            <a:ext cx="47339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Inter"/>
              </a:rPr>
              <a:t>Synthesizable 5-stage pipelined RV32IMF processor.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3876675"/>
            <a:ext cx="4762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Inter"/>
              </a:rPr>
              <a:t>Hardware math accelerators and split 2KB L1 caches.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2300" y="4600575"/>
            <a:ext cx="47053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Inter"/>
              </a:rPr>
              <a:t>Validated via bare-metal C benchmarks on FPGA.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809750"/>
            <a:ext cx="3505200" cy="4438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43400" y="1809750"/>
            <a:ext cx="3505200" cy="443865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8077200" y="1809750"/>
            <a:ext cx="3295065" cy="172402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3606565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Abadi" panose="020F0502020204030204" pitchFamily="34" charset="0"/>
              </a:rPr>
              <a:t>System Scope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23950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Development targets mapped to hardware 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14550"/>
            <a:ext cx="191828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Abadi" panose="020F0502020204030204" pitchFamily="34" charset="0"/>
              </a:rPr>
              <a:t>MINIMUM WORKING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6975"/>
            <a:ext cx="380047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Commitment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2114550"/>
            <a:ext cx="160499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Abadi" panose="020F0502020204030204" pitchFamily="34" charset="0"/>
              </a:rPr>
              <a:t>COMPLETE TARGET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2466975"/>
            <a:ext cx="380047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2114550"/>
            <a:ext cx="184024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Abadi" panose="020F0502020204030204" pitchFamily="34" charset="0"/>
              </a:rPr>
              <a:t>ADVANCED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2466975"/>
            <a:ext cx="380047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Stretch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019425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019425"/>
            <a:ext cx="3333750" cy="3048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5-Stage RV32I base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3438525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38525"/>
            <a:ext cx="2762250" cy="6096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Inter"/>
              </a:rPr>
              <a:t>Dual 3:1 forwarding multiplexers.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4162425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162425"/>
            <a:ext cx="3333750" cy="3048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Inter"/>
              </a:rPr>
              <a:t>1-cycle DSP/Booth multiplier.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4581525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0" i="0" u="none" dirty="0">
                <a:solidFill>
                  <a:srgbClr val="334155"/>
                </a:solidFill>
                <a:latin typeface="Inter"/>
              </a:rPr>
              <a:t>•</a:t>
            </a:r>
            <a:endParaRPr sz="15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3000" y="4581525"/>
            <a:ext cx="2762250" cy="89018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Inter"/>
              </a:rPr>
              <a:t>32-cycle Radix-2 hardware divider.</a:t>
            </a:r>
            <a:endParaRPr lang="en-US" sz="1500" b="0" i="0" u="none" dirty="0">
              <a:solidFill>
                <a:srgbClr val="334155"/>
              </a:solidFill>
              <a:latin typeface="Inter"/>
            </a:endParaRPr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334155"/>
                </a:solidFill>
                <a:latin typeface="Inter"/>
              </a:rPr>
              <a:t>IEEE 754 FPU integration</a:t>
            </a:r>
            <a:endParaRPr sz="15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72025" y="3019425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3019425"/>
            <a:ext cx="2762250" cy="6096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Split 2KB L1 I-Cache &amp; D-Cache.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2025" y="3743325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0" y="3743325"/>
            <a:ext cx="2762250" cy="6096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Inter"/>
              </a:rPr>
              <a:t>Burst refill FSMs &amp; byte masking.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2025" y="4467225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800" y="4467225"/>
            <a:ext cx="3028073" cy="751681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r>
              <a:rPr lang="en-US" sz="1500" dirty="0">
                <a:solidFill>
                  <a:srgbClr val="334155"/>
                </a:solidFill>
                <a:latin typeface="Inter"/>
              </a:rPr>
              <a:t>32-bit CSR performance counters.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 algn="l">
              <a:lnSpc>
                <a:spcPts val="2400"/>
              </a:lnSpc>
            </a:pPr>
            <a:endParaRPr sz="15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72025" y="4886325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6800" y="4886325"/>
            <a:ext cx="2762250" cy="89018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Inter"/>
              </a:rPr>
              <a:t>Static 32-entry Branch Target Buffer.</a:t>
            </a:r>
            <a:endParaRPr lang="en-US" sz="1500" dirty="0">
              <a:solidFill>
                <a:srgbClr val="334155"/>
              </a:solidFill>
              <a:latin typeface="Inter"/>
            </a:endParaRPr>
          </a:p>
          <a:p>
            <a:pPr algn="l">
              <a:lnSpc>
                <a:spcPts val="2400"/>
              </a:lnSpc>
            </a:pPr>
            <a:endParaRPr lang="en-US" sz="15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05825" y="3019425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0600" y="3019425"/>
            <a:ext cx="3333750" cy="3048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Zbb bit-manipulation ALU.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657350"/>
            <a:ext cx="10972800" cy="5143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7725" y="6124575"/>
            <a:ext cx="1049655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7725" y="6124575"/>
            <a:ext cx="104965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905000"/>
            <a:ext cx="1049655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2884444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Abadi" panose="020F0502020204030204" pitchFamily="34" charset="0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23950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Top-Level Datapath &amp; Integrated Math/Cache Schematic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6362700"/>
            <a:ext cx="5298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Modifications: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EX Parallel Math Cluster &amp; L1 Caches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2775" y="6362700"/>
            <a:ext cx="52292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Control Flow: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Dual EX Forwarding &amp; Multi-Cycle Stalls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657350"/>
            <a:ext cx="10972800" cy="515302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7725" y="6124575"/>
            <a:ext cx="10496550" cy="447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7725" y="6124575"/>
            <a:ext cx="104965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895475"/>
            <a:ext cx="1049655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3050772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Abadi" panose="020F0502020204030204" pitchFamily="34" charset="0"/>
              </a:rPr>
              <a:t>Pipeline Timing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23950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Real Benchmark Trace (31 Cycles): Stalls &amp; Forwarding Interlocks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32171" y="6362700"/>
            <a:ext cx="1265634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Sequence:</a:t>
            </a:r>
            <a:r>
              <a:rPr sz="1350" b="0" i="0" u="none">
                <a:solidFill>
                  <a:srgbClr val="0F172A"/>
                </a:solidFill>
                <a:latin typeface="Inter"/>
              </a:rPr>
              <a:t> LW Miss (10c Stall) → RAW Bypass to ADDI → BNE Taken (1c Flush) → FADD.S (5c) → FMUL.S (4c)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1100" y="2038350"/>
            <a:ext cx="9829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09201" y="609600"/>
            <a:ext cx="3773597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 dirty="0">
                <a:solidFill>
                  <a:srgbClr val="0F172A"/>
                </a:solidFill>
                <a:latin typeface="Abadi" panose="020F0502020204030204" pitchFamily="34" charset="0"/>
              </a:rPr>
              <a:t>Implementation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027164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67200" y="3027164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381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62800" y="3027164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381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0" y="3027164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381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28725" y="3027164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11" y="4017764"/>
            <a:ext cx="1276375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0F172A"/>
                </a:solidFill>
                <a:latin typeface="Abadi" panose="020F0502020204030204" pitchFamily="34" charset="0"/>
              </a:rPr>
              <a:t>Base Datapath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" y="4398764"/>
            <a:ext cx="28575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RAW forwarding, stalls &amp; branch flushes verified.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4325" y="3027164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5319" y="4017764"/>
            <a:ext cx="1605761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0F172A"/>
                </a:solidFill>
                <a:latin typeface="Abadi" panose="020F0502020204030204" pitchFamily="34" charset="0"/>
              </a:rPr>
              <a:t>Math Accelerators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9450" y="4398764"/>
            <a:ext cx="28575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Hardware MUL, 32-cycle DIV &amp; Single-Precision FPU.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9925" y="3027164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6810" y="4017764"/>
            <a:ext cx="1653978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0F172A"/>
                </a:solidFill>
                <a:latin typeface="Abadi" panose="020F0502020204030204" pitchFamily="34" charset="0"/>
              </a:rPr>
              <a:t>L1 Cache Hierarchy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5050" y="4398764"/>
            <a:ext cx="28575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2KB I/D Caches with 10-cycle burst refills.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5525" y="3027164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Inte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6097" y="4017764"/>
            <a:ext cx="1646605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0F172A"/>
                </a:solidFill>
                <a:latin typeface="Abadi" panose="020F0502020204030204" pitchFamily="34" charset="0"/>
              </a:rPr>
              <a:t>System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0650" y="4398764"/>
            <a:ext cx="28575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RTL traces &amp; FPGA hardware demo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00337"/>
            <a:ext cx="3505200" cy="26479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00337"/>
            <a:ext cx="3505200" cy="26479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00337"/>
            <a:ext cx="3505200" cy="26479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051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0051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30051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3119437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075" y="3119437"/>
            <a:ext cx="1714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2012" y="3119437"/>
            <a:ext cx="25717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Roboto"/>
              </a:rPr>
              <a:t>Verification Plan (1/3)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085850"/>
            <a:ext cx="115824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Open Sans"/>
              </a:rPr>
              <a:t>Core Execution &amp; I-Cache Profiling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90937"/>
            <a:ext cx="380047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pen Sans"/>
              </a:rPr>
              <a:t>1. RISC-V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3690937"/>
            <a:ext cx="380047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pen Sans"/>
              </a:rPr>
              <a:t>2. HW Multiplier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3690937"/>
            <a:ext cx="380047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pen Sans"/>
              </a:rPr>
              <a:t>3. L1 I-Cache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119562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19562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Load C binaries via Vivado.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4452937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452937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Monitor hazard stall signals.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6325" y="4786312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786312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Verify 1-cycle EX forwarding.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0125" y="4119562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0" y="4119562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Toggle DSP48E1 vs LUT logic.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0125" y="4452937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0" y="4452937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Measure clock cycle reduction.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0125" y="4786312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6800" y="4786312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Validate 1-cycle Booth execution.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3925" y="4119562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0600" y="4119562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Direct-mapped burst FSM timing.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3925" y="4452937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0600" y="4452937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Avoid 10-cycle memory fetch.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3925" y="4786312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0600" y="4786312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Print UART hit latencies.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00337"/>
            <a:ext cx="3505200" cy="26479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443162"/>
            <a:ext cx="3505200" cy="3162300"/>
          </a:xfrm>
          <a:prstGeom prst="roundRect">
            <a:avLst>
              <a:gd name="adj" fmla="val 36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00337"/>
            <a:ext cx="3505200" cy="26479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051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7479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30051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3119437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025" y="2862262"/>
            <a:ext cx="2095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0587" y="3119437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Roboto"/>
              </a:rPr>
              <a:t>Verification Plan (2/3)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085850"/>
            <a:ext cx="115824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Open Sans"/>
              </a:rPr>
              <a:t>Floating Point, Divider &amp; D-Cache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90937"/>
            <a:ext cx="380047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pen Sans"/>
              </a:rPr>
              <a:t>4. IEEE 754 FPU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3433762"/>
            <a:ext cx="380047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pen Sans"/>
              </a:rPr>
              <a:t>5. HW Divider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3690937"/>
            <a:ext cx="380047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pen Sans"/>
              </a:rPr>
              <a:t>6. L1 D-Cache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119562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19562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Multi-cycle FSM state transitions.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4452937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452937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Prove 5c/4c/15c FPU latencies.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6325" y="4786312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786312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UART hex vs Python script.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0125" y="3862387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0" y="3862387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32-cycle shift-subtract register.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0125" y="4195762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0" y="4195762"/>
            <a:ext cx="2762250" cy="5143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Extract exact quotient &amp; remainder.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0125" y="4786312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6800" y="4786312"/>
            <a:ext cx="2762250" cy="5143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Assert 100% bit-accurate modulo.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3925" y="4119562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0600" y="4119562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4-word block spatial locality.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3925" y="4452937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0600" y="4452937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Track read/write buffer asserts.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3925" y="4786312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0600" y="4786312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Demonstrate 75% target hit-rate.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00337"/>
            <a:ext cx="3505200" cy="26479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443162"/>
            <a:ext cx="3505200" cy="3162300"/>
          </a:xfrm>
          <a:prstGeom prst="roundRect">
            <a:avLst>
              <a:gd name="adj" fmla="val 36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314575"/>
            <a:ext cx="3505200" cy="3419475"/>
          </a:xfrm>
          <a:prstGeom prst="roundRect">
            <a:avLst>
              <a:gd name="adj" fmla="val 33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051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7479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6193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987" y="3119437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2862262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2012" y="2733675"/>
            <a:ext cx="25717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Roboto"/>
              </a:rPr>
              <a:t>Verification Plan (3/3)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085850"/>
            <a:ext cx="115824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Open Sans"/>
              </a:rPr>
              <a:t>Branch Prediction, Counters &amp; Bit-Manipulation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90937"/>
            <a:ext cx="380047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pen Sans"/>
              </a:rPr>
              <a:t>7. Branch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3433762"/>
            <a:ext cx="380047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pen Sans"/>
              </a:rPr>
              <a:t>8. Performance CSRs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3305175"/>
            <a:ext cx="380047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pen Sans"/>
              </a:rPr>
              <a:t>9. Zbb Extension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119562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19562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32-entry BTB state mapping.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4452937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452937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Count 1-cycle pipeline flushes.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6325" y="4786312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786312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Zero-flush stable loop execution.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0125" y="3862387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0" y="3862387"/>
            <a:ext cx="3333750" cy="2571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64-bit hardware counter logic.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0125" y="4195762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0" y="4195762"/>
            <a:ext cx="2762250" cy="5143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Memory-mapped passive register reads.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0125" y="4786312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6800" y="4786312"/>
            <a:ext cx="2762250" cy="5143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Calculate live Instructions/Cycle (IPC).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3925" y="3733800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0600" y="3733800"/>
            <a:ext cx="2762250" cy="5143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Dedicated PopCount ALU hardware.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3925" y="4324350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0600" y="4324350"/>
            <a:ext cx="2762250" cy="5143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Benchmark against standard logic.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3925" y="4914900"/>
            <a:ext cx="666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0600" y="4914900"/>
            <a:ext cx="2762250" cy="5143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Measure total execution cycle drop.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300287"/>
            <a:ext cx="3505200" cy="32669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43400" y="2300287"/>
            <a:ext cx="3505200" cy="32669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77200" y="2574577"/>
            <a:ext cx="3505200" cy="27183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300287"/>
            <a:ext cx="3505200" cy="571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2300287"/>
            <a:ext cx="3505200" cy="571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2574577"/>
            <a:ext cx="35052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Roboto"/>
              </a:rPr>
              <a:t>Project Timeline &amp; Milestones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38437"/>
            <a:ext cx="3619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Roboto"/>
              </a:rPr>
              <a:t>PHASE 1 | OCT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95612"/>
            <a:ext cx="380047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pen Sans"/>
              </a:rPr>
              <a:t>Minimum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2738437"/>
            <a:ext cx="3619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Roboto"/>
              </a:rPr>
              <a:t>PHASE 2 | NOV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2995612"/>
            <a:ext cx="380047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pen Sans"/>
              </a:rPr>
              <a:t>Full RV32IMF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0" y="3012727"/>
            <a:ext cx="3619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97706"/>
                </a:solidFill>
                <a:latin typeface="Roboto"/>
              </a:rPr>
              <a:t>PHASE 3 | NOV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269902"/>
            <a:ext cx="380047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pen Sans"/>
              </a:rPr>
              <a:t>FPGA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3585210"/>
            <a:ext cx="666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586162"/>
            <a:ext cx="2762250" cy="54858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Base 5-stage datapath &amp; forwarding.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4248090"/>
            <a:ext cx="666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249042"/>
            <a:ext cx="3333750" cy="27429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Integrated EX stage multipliers.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325" y="4636680"/>
            <a:ext cx="666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637633"/>
            <a:ext cx="2762250" cy="54858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1.0 IPC Vivado simulation verified.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0125" y="3585210"/>
            <a:ext cx="666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3586162"/>
            <a:ext cx="3333750" cy="27429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L1 D-Cache with byte masking.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0125" y="3973800"/>
            <a:ext cx="666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0" y="3974752"/>
            <a:ext cx="2762250" cy="54858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Complete IEEE 754 FPU integration.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0125" y="4636680"/>
            <a:ext cx="666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800" y="4637633"/>
            <a:ext cx="2762250" cy="54858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Passing compiled C suite in xsim.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3925" y="3859500"/>
            <a:ext cx="666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0600" y="3860452"/>
            <a:ext cx="3333750" cy="27429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50 MHz Artix-7 timing closure.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3925" y="4248090"/>
            <a:ext cx="666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0600" y="4249042"/>
            <a:ext cx="3333750" cy="27429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64-bit CSR counters activated.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3925" y="4636680"/>
            <a:ext cx="666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0600" y="4637633"/>
            <a:ext cx="3333750" cy="27429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Live Nexys A7 hardware demo.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466850"/>
          <a:ext cx="10972799" cy="47815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6925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0F172A"/>
                          </a:solidFill>
                          <a:latin typeface="Roboto"/>
                        </a:rPr>
                        <a:t>Team Member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0F172A"/>
                          </a:solidFill>
                          <a:latin typeface="Roboto"/>
                        </a:rPr>
                        <a:t>Subsystem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0F172A"/>
                          </a:solidFill>
                          <a:latin typeface="Roboto"/>
                        </a:rPr>
                        <a:t>Key Hardware Deliverables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Open Sans"/>
                        </a:rPr>
                        <a:t>Pisini Ramana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IF/ID Pipeline &amp; I-Cache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2KB I-Cache, 10-cycle burst refill FSM.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Open Sans"/>
                        </a:rPr>
                        <a:t>Chimbili Sahithi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EX/MEM &amp; Hardware Divider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Byte-enable masking, 32-cycle Radix-2 divider.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Open Sans"/>
                        </a:rPr>
                        <a:t>Siddharth Misro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Hardware Multiplier &amp; FPU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DSP48E1 multipliers, Newton-Raphson FDIV.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Open Sans"/>
                        </a:rPr>
                        <a:t>Bandaru Rohith Datta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Control Unit &amp; D-Cache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2KB D-Cache, Write buffer, CSR counters.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Open Sans"/>
                        </a:rPr>
                        <a:t>S. Praneeth Sai Bharath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Hazard Unit &amp; FPGA Demo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Forwarding muxes, 32-entry BTB, C testbench.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609600"/>
            <a:ext cx="115824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Roboto"/>
              </a:rPr>
              <a:t>Team Responsibilities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138362"/>
            <a:ext cx="5334000" cy="895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48400" y="2138362"/>
            <a:ext cx="5334000" cy="895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681537"/>
            <a:ext cx="5334000" cy="895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48400" y="4681537"/>
            <a:ext cx="5334000" cy="895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138362"/>
            <a:ext cx="38100" cy="8953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48400" y="2138362"/>
            <a:ext cx="38100" cy="8953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681537"/>
            <a:ext cx="38100" cy="8953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8400" y="4681537"/>
            <a:ext cx="38100" cy="8953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609600"/>
            <a:ext cx="115824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Roboto"/>
              </a:rPr>
              <a:t>Engineering Challenges &amp; Mitigation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138362"/>
            <a:ext cx="665083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Roboto"/>
              </a:rPr>
              <a:t>Multi-Cycle Stall Interlocking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519362"/>
            <a:ext cx="51625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Open Sans"/>
              </a:rPr>
              <a:t>Coordinate simultaneous requests from 32c DIV and 10c caches without deadlock.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2138362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Roboto"/>
              </a:rPr>
              <a:t>50 MHz Timing Closure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2519362"/>
            <a:ext cx="51625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Open Sans"/>
              </a:rPr>
              <a:t>Achieve positive timing slack (&gt;10ns DSP path delay resolved via 20ns period).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4681537"/>
            <a:ext cx="665083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Roboto"/>
              </a:rPr>
              <a:t>Arithmetic Edge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5062537"/>
            <a:ext cx="51625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Open Sans"/>
              </a:rPr>
              <a:t>Hardware handling of INT_MIN overflow, IEEE 754 NaN, and division-by-zero.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4681537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Roboto"/>
              </a:rPr>
              <a:t>Speculative Branch Flush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5062537"/>
            <a:ext cx="51625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Open Sans"/>
              </a:rPr>
              <a:t>Clean 1-cycle misprediction invalidation without memory corruption.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887217"/>
            <a:ext cx="6096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1968" y="1932682"/>
            <a:ext cx="35480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38BDF8"/>
                </a:solidFill>
                <a:latin typeface="Roboto"/>
              </a:rPr>
              <a:t>END OF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4152" y="2427982"/>
            <a:ext cx="9563695" cy="754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Roboto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487042"/>
            <a:ext cx="71437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94A3B8"/>
                </a:solidFill>
                <a:latin typeface="Open Sans"/>
              </a:rPr>
              <a:t>Appendix notes covering microarchitecture details and cycle-by-cycle breakdowns are available for reference.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858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47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47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2870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002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75271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Open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52512"/>
            <a:ext cx="7750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Open Sans"/>
              </a:rPr>
              <a:t>https://user-images.githubusercontent.com/56905673/117547053-f932fe00-b046-11eb-91af-9291291d4f52.png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71587"/>
            <a:ext cx="175021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Open Sans"/>
              </a:rPr>
              <a:t>Source: github.com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24037"/>
            <a:ext cx="9013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Open Sans"/>
              </a:rPr>
              <a:t>https://media.geeksforgeeks.org/wp-content/uploads/20250502142202506624/instruction_execution_in_5_stage_pipeline.webp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43112"/>
            <a:ext cx="284559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Open Sans"/>
              </a:rPr>
              <a:t>Source: www.geeksforgeeks.org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884</Words>
  <Application>Microsoft Office PowerPoint</Application>
  <PresentationFormat>Widescreen</PresentationFormat>
  <Paragraphs>198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Roboto</vt:lpstr>
      <vt:lpstr>Arial</vt:lpstr>
      <vt:lpstr>Abadi</vt:lpstr>
      <vt:lpstr>Inter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Praneeth Sai Bharath Sigilipelli</cp:lastModifiedBy>
  <cp:revision>3</cp:revision>
  <dcterms:created xsi:type="dcterms:W3CDTF">2013-01-27T09:14:16Z</dcterms:created>
  <dcterms:modified xsi:type="dcterms:W3CDTF">2026-10-13T06:55:50Z</dcterms:modified>
  <cp:category/>
</cp:coreProperties>
</file>